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SpendSight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Personal Financial Spending Tracker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Serverless Architecture + Google Gemini Vision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Pratham Shah  |  February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ect">
            <a:avLst>
              <a:gd name="adj" fmla="val 6250"/>
            </a:avLst>
          </a:prstGeom>
          <a:solidFill>
            <a:srgbClr val="11111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444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Entry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every receipt into a spreadsheet is tedious and error-prone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731520"/>
          </a:xfrm>
          <a:prstGeom prst="rect">
            <a:avLst>
              <a:gd name="adj" fmla="val 6250"/>
            </a:avLst>
          </a:prstGeom>
          <a:solidFill>
            <a:srgbClr val="11111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40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313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OCR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apps require manual data entry, no AI extraction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680960" cy="731520"/>
          </a:xfrm>
          <a:prstGeom prst="rect">
            <a:avLst>
              <a:gd name="adj" fmla="val 6250"/>
            </a:avLst>
          </a:prstGeom>
          <a:solidFill>
            <a:srgbClr val="11111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182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Analytics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 don't provide spending pattern insights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731520"/>
          </a:xfrm>
          <a:prstGeom prst="rect">
            <a:avLst>
              <a:gd name="adj" fmla="val 6250"/>
            </a:avLst>
          </a:prstGeom>
          <a:solidFill>
            <a:srgbClr val="11111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776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050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Multi-User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tools show everyone's data, no personalization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SpendSight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1874520" cy="3200400"/>
          </a:xfrm>
          <a:prstGeom prst="rect">
            <a:avLst>
              <a:gd name="adj" fmla="val 2439"/>
            </a:avLst>
          </a:prstGeom>
          <a:solidFill>
            <a:srgbClr val="11111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74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Receipt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a photo or upload any receipt image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371600"/>
            <a:ext cx="1874520" cy="3200400"/>
          </a:xfrm>
          <a:prstGeom prst="rect">
            <a:avLst>
              <a:gd name="adj" fmla="val 2439"/>
            </a:avLst>
          </a:prstGeom>
          <a:solidFill>
            <a:srgbClr val="11111B"/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1371600"/>
            <a:ext cx="18745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926080" y="2286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Extracts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Vision reads vendor, amount, date, category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1874520" cy="3200400"/>
          </a:xfrm>
          <a:prstGeom prst="rect">
            <a:avLst>
              <a:gd name="adj" fmla="val 2439"/>
            </a:avLst>
          </a:prstGeom>
          <a:solidFill>
            <a:srgbClr val="11111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371600"/>
            <a:ext cx="18745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83480" y="2286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Analytics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 with spending trends and patterns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874520" cy="3200400"/>
          </a:xfrm>
          <a:prstGeom prst="rect">
            <a:avLst>
              <a:gd name="adj" fmla="val 2439"/>
            </a:avLst>
          </a:prstGeom>
          <a:solidFill>
            <a:srgbClr val="11111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1371600"/>
            <a:ext cx="1874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&amp; Secure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login ensures each user sees only their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463040"/>
            <a:ext cx="1371600" cy="914400"/>
          </a:xfrm>
          <a:prstGeom prst="rect">
            <a:avLst>
              <a:gd name="adj" fmla="val 5000"/>
            </a:avLst>
          </a:prstGeom>
          <a:solidFill>
            <a:srgbClr val="11111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46304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463040"/>
            <a:ext cx="1371600" cy="914400"/>
          </a:xfrm>
          <a:prstGeom prst="rect">
            <a:avLst>
              <a:gd name="adj" fmla="val 5000"/>
            </a:avLst>
          </a:prstGeom>
          <a:solidFill>
            <a:srgbClr val="11111B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14630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1371600" cy="914400"/>
          </a:xfrm>
          <a:prstGeom prst="rect">
            <a:avLst>
              <a:gd name="adj" fmla="val 5000"/>
            </a:avLst>
          </a:prstGeom>
          <a:solidFill>
            <a:srgbClr val="11111B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146304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Functions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463040"/>
            <a:ext cx="1371600" cy="914400"/>
          </a:xfrm>
          <a:prstGeom prst="rect">
            <a:avLst>
              <a:gd name="adj" fmla="val 5000"/>
            </a:avLst>
          </a:prstGeom>
          <a:solidFill>
            <a:srgbClr val="11111B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1463040"/>
            <a:ext cx="13716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OCR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463040"/>
            <a:ext cx="1371600" cy="914400"/>
          </a:xfrm>
          <a:prstGeom prst="rect">
            <a:avLst>
              <a:gd name="adj" fmla="val 5000"/>
            </a:avLst>
          </a:prstGeom>
          <a:solidFill>
            <a:srgbClr val="11111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146304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Store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0040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5488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0936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152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Pipeline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1520" y="3383280"/>
            <a:ext cx="1554480" cy="640080"/>
          </a:xfrm>
          <a:prstGeom prst="rect">
            <a:avLst>
              <a:gd name="adj" fmla="val 7143"/>
            </a:avLst>
          </a:prstGeom>
          <a:solidFill>
            <a:srgbClr val="11111B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3383280"/>
            <a:ext cx="1554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DDB Streams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0" y="3383280"/>
            <a:ext cx="1554480" cy="640080"/>
          </a:xfrm>
          <a:prstGeom prst="rect">
            <a:avLst>
              <a:gd name="adj" fmla="val 7143"/>
            </a:avLst>
          </a:prstGeom>
          <a:solidFill>
            <a:srgbClr val="11111B"/>
          </a:solidFill>
          <a:ln/>
        </p:spPr>
      </p:sp>
      <p:sp>
        <p:nvSpPr>
          <p:cNvPr id="33" name="Shape 31"/>
          <p:cNvSpPr/>
          <p:nvPr/>
        </p:nvSpPr>
        <p:spPr>
          <a:xfrm>
            <a:off x="2560320" y="3383280"/>
            <a:ext cx="1554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Writer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0" y="3383280"/>
            <a:ext cx="1554480" cy="640080"/>
          </a:xfrm>
          <a:prstGeom prst="rect">
            <a:avLst>
              <a:gd name="adj" fmla="val 7143"/>
            </a:avLst>
          </a:prstGeom>
          <a:solidFill>
            <a:srgbClr val="11111B"/>
          </a:solidFill>
          <a:ln/>
        </p:spPr>
      </p:sp>
      <p:sp>
        <p:nvSpPr>
          <p:cNvPr id="36" name="Shape 34"/>
          <p:cNvSpPr/>
          <p:nvPr/>
        </p:nvSpPr>
        <p:spPr>
          <a:xfrm>
            <a:off x="4389120" y="3383280"/>
            <a:ext cx="15544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Data Lake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383280"/>
            <a:ext cx="1554480" cy="640080"/>
          </a:xfrm>
          <a:prstGeom prst="rect">
            <a:avLst>
              <a:gd name="adj" fmla="val 7143"/>
            </a:avLst>
          </a:prstGeom>
          <a:solidFill>
            <a:srgbClr val="11111B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7920" y="3383280"/>
            <a:ext cx="1554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 SQL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86000" y="33832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114800" y="33832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943600" y="33832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Services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468880" cy="1554480"/>
          </a:xfrm>
          <a:prstGeom prst="rect">
            <a:avLst>
              <a:gd name="adj" fmla="val 2941"/>
            </a:avLst>
          </a:prstGeom>
          <a:solidFill>
            <a:srgbClr val="11111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hosting + Receipt storage + Data lake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468880" cy="1554480"/>
          </a:xfrm>
          <a:prstGeom prst="rect">
            <a:avLst>
              <a:gd name="adj" fmla="val 2941"/>
            </a:avLst>
          </a:prstGeom>
          <a:solidFill>
            <a:srgbClr val="11111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serverless functions (API, OCR, Writer, Query)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468880" cy="1554480"/>
          </a:xfrm>
          <a:prstGeom prst="rect">
            <a:avLst>
              <a:gd name="adj" fmla="val 2941"/>
            </a:avLst>
          </a:prstGeom>
          <a:solidFill>
            <a:srgbClr val="11111B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 with CORS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2468880" cy="1554480"/>
          </a:xfrm>
          <a:prstGeom prst="rect">
            <a:avLst>
              <a:gd name="adj" fmla="val 2941"/>
            </a:avLst>
          </a:prstGeom>
          <a:solidFill>
            <a:srgbClr val="11111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database with Streams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3108960"/>
            <a:ext cx="2468880" cy="1554480"/>
          </a:xfrm>
          <a:prstGeom prst="rect">
            <a:avLst>
              <a:gd name="adj" fmla="val 2941"/>
            </a:avLst>
          </a:prstGeom>
          <a:solidFill>
            <a:srgbClr val="11111B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8328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2044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SQL on S3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108960"/>
            <a:ext cx="2468880" cy="1554480"/>
          </a:xfrm>
          <a:prstGeom prst="rect">
            <a:avLst>
              <a:gd name="adj" fmla="val 2941"/>
            </a:avLst>
          </a:prstGeom>
          <a:solidFill>
            <a:srgbClr val="11111B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3504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220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and monitoring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Receipt Parsing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3200400"/>
          </a:xfrm>
          <a:prstGeom prst="rect">
            <a:avLst>
              <a:gd name="adj" fmla="val 1429"/>
            </a:avLst>
          </a:prstGeom>
          <a:solidFill>
            <a:srgbClr val="11111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STARBUCKS #63225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11309 Lebanon Rd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Venti Mocha Latte  $13.90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Chocolate Pie      $8.00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Gr Wht Mocha       $11.90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                   $3.22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               $38.02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06/07/25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366F1"/>
                </a:solidFill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3200400"/>
          </a:xfrm>
          <a:prstGeom prst="rect">
            <a:avLst>
              <a:gd name="adj" fmla="val 1429"/>
            </a:avLst>
          </a:prstGeom>
          <a:solidFill>
            <a:srgbClr val="11111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 Output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"vendor": </a:t>
            </a:r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"Starbucks"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"amount": 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38.02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"date": </a:t>
            </a:r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"2025-06-07"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"category": </a:t>
            </a:r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"Food"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2.0 Sign-In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user gets isolated data through their Google email identity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874520" cy="1828800"/>
          </a:xfrm>
          <a:prstGeom prst="rect">
            <a:avLst>
              <a:gd name="adj" fmla="val 2500"/>
            </a:avLst>
          </a:prstGeom>
          <a:solidFill>
            <a:srgbClr val="11111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560320"/>
            <a:ext cx="187452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button returns JWT with email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2560320"/>
            <a:ext cx="1874520" cy="1828800"/>
          </a:xfrm>
          <a:prstGeom prst="rect">
            <a:avLst>
              <a:gd name="adj" fmla="val 2500"/>
            </a:avLst>
          </a:prstGeom>
          <a:solidFill>
            <a:srgbClr val="11111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8920" y="2560320"/>
            <a:ext cx="1874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2743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30175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34747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userId=email sent as query param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560320"/>
            <a:ext cx="1874520" cy="1828800"/>
          </a:xfrm>
          <a:prstGeom prst="rect">
            <a:avLst>
              <a:gd name="adj" fmla="val 2500"/>
            </a:avLst>
          </a:prstGeom>
          <a:solidFill>
            <a:srgbClr val="11111B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2560320"/>
            <a:ext cx="1874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743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34747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= USER#email for data isolation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2560320"/>
            <a:ext cx="1874520" cy="1828800"/>
          </a:xfrm>
          <a:prstGeom prst="rect">
            <a:avLst>
              <a:gd name="adj" fmla="val 2500"/>
            </a:avLst>
          </a:prstGeom>
          <a:solidFill>
            <a:srgbClr val="11111B"/>
          </a:solidFill>
          <a:ln/>
        </p:spPr>
      </p:sp>
      <p:sp>
        <p:nvSpPr>
          <p:cNvPr id="22" name="Shape 20"/>
          <p:cNvSpPr/>
          <p:nvPr/>
        </p:nvSpPr>
        <p:spPr>
          <a:xfrm>
            <a:off x="6903720" y="256032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743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720" y="30175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34747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filtered by userId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Data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Attribute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USER#pratham@gmail.com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DATE#2025-06-07#TS#1770524850817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vendor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Starbucks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amount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38.02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Food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createdAt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2026-02-08T03:27:30Z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Single-table design with composite keys enables efficient date-range queries per user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Near-Real-Time Analytics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 Streams → Lambda → S3 (Partitioned) → Athena → Dashboard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2560320"/>
          </a:xfrm>
          <a:prstGeom prst="rect">
            <a:avLst>
              <a:gd name="adj" fmla="val 1786"/>
            </a:avLst>
          </a:prstGeom>
          <a:solidFill>
            <a:srgbClr val="11111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Pipeline?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Streams: Captures every INSERT automatically, no polling needed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Writer: Transforms records into flat, query-optimized JSON with userId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3566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Partitioning: year=YYYY/month=MM/day=DD reduces Athena scan costs by 99%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977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Athena: Serverless SQL, pay only $5/TB scanned (pennies for demo data)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4389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New expenses appear in analytics within seconds of upload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3200400"/>
          </a:xfrm>
          <a:prstGeom prst="rect">
            <a:avLst>
              <a:gd name="adj" fmla="val 1429"/>
            </a:avLst>
          </a:prstGeom>
          <a:solidFill>
            <a:srgbClr val="11111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Security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IAM least privilege roles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Presigned URL uploads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Google OAuth 2.0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User data isolation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S3 encryption (SSE-S3)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657600" cy="3200400"/>
          </a:xfrm>
          <a:prstGeom prst="rect">
            <a:avLst>
              <a:gd name="adj" fmla="val 1429"/>
            </a:avLst>
          </a:prstGeom>
          <a:solidFill>
            <a:srgbClr val="11111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services within AWS Free Tier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costs covered by $300 Google Cloud credits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→ Upload Receipt → See AI Extract Data → View Analytics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Pratham Shah  |  SpendSight  |  AWS Serverless + Gemini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SpendSight - Personal Financial Spending Tracker</dc:title>
  <dc:subject>PptxGenJS Presentation</dc:subject>
  <dc:creator>Pratham Shah</dc:creator>
  <cp:lastModifiedBy>Pratham Shah</cp:lastModifiedBy>
  <cp:revision>1</cp:revision>
  <dcterms:created xsi:type="dcterms:W3CDTF">2026-02-08T17:43:40Z</dcterms:created>
  <dcterms:modified xsi:type="dcterms:W3CDTF">2026-02-08T17:43:40Z</dcterms:modified>
</cp:coreProperties>
</file>